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Presentacion de la propuesta de trabajo del semestre. Aclarar de entrada que la Ferropista es una iniciativa privada y que nuestro papel es de verificacion independiente.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cuatro cifras son de la fuente, no nuestras. El trabajo del semestre es justamente comprobar cuales resisten verificacion.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propuesta tal como la describe el proponente. Nosotros no la disenamos: la caracterizamos y verificamos.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aporte metodologico del semillero. Sin esta disciplina el trabajo seria un resumen de la ponencia.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Delimitar el alcance de entrada es lo que hace defendible el trabajo. Si prometemos viabilidad, no lo podemos sostener.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Siete objetivos porque el reglamento del PA grupal pide dos por integrante mas uno conjunto. No es una eleccion nuestra.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resultado concreto que ya podemos mostrar. El perfil de la izquierda sale del mismo script que produce las cifras de arriba.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se ve como un objetivo alimenta al siguiente. No son siete trabajos sueltos.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Encontrar estas dos inconsistencias es, en si mismo, un resultado del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sitio en vivo si hay conexion. El punto es que no hay ninguna cifra escrita a mano en la interfaz.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la ingeniera pregunta por que no hay ensayos de suelo, esta diapositiva ya responde: no los tenemos y lo decimos.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preguntas concretas: eso convierte la reunion en asesoria y no en una simple exposicion.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3F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F7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pic>
        <p:nvPicPr>
          <p:cNvPr id="4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914400"/>
            <a:ext cx="3200400" cy="603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Ferropista Cordillera Central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DB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análisis del cruce Ibagué – Armenia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841248" y="3794760"/>
            <a:ext cx="1463040" cy="36576"/>
          </a:xfrm>
          <a:prstGeom prst="rect">
            <a:avLst/>
          </a:prstGeom>
          <a:solidFill>
            <a:srgbClr val="0F7B5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1148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8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Semillero de Investigación GMAE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8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Ingeniería Civil · Universidad de Ibagué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8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Paz y Región 2026B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863840" y="3977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3163"/>
          </a:solidFill>
          <a:ln w="12700">
            <a:solidFill>
              <a:srgbClr val="2A4F8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4160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B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Objeto de estudio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4348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Ponencia de ARCS / UC Consult (2025)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Seminario Andino de Túneles y Obras Subterráneas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Este trabajo analiza una propuesta de terceros. El semillero no la representa ni la promueve.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Alto de La Línea es el cuello de botella del corredor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por la Cordillera Central concentra el mayor costo de tiempo del eje Bogotá – Buenaventura. Estas son las cifras que declara la fuente analizada.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6334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horas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63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medio de cruce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381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Ponencia, dia. 29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0" y="24688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51960" y="26334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20 km/h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3163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media de la carga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34381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Ponencia, dia. 20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233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1,39 M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764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pesados al año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0383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Ponencia, dia. 10 · +3 % anual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0" y="40690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51960" y="4233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3.300 msnm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4764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del paso actual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251960" y="50383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Ponencia, dia. 20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35240" y="2468880"/>
            <a:ext cx="3913632" cy="3017520"/>
          </a:xfrm>
          <a:prstGeom prst="roundRect">
            <a:avLst>
              <a:gd name="adj" fmla="val 2424"/>
            </a:avLst>
          </a:prstGeom>
          <a:solidFill>
            <a:srgbClr val="E8EFF9"/>
          </a:solidFill>
          <a:ln w="12700">
            <a:solidFill>
              <a:srgbClr val="B3C7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9560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está en juego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31089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millones de habitantes en el área de influencia del corredor.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Siniestralidad de alta gravedad asociada al descenso prolongado.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1,70 M de vehículos pesados al año en 2030.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Cifras marcadas [F]: provienen de la ponencia, con número de diapositiva. Ninguna es un cálculo del semillero.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PROPONE LA FUENTE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túnel de base ferroviario con autopista rodante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sustituye el ascenso a 3.300 msnm por un cruce subterráneo a baja cota, sobre el que los vehículos pesados viajan cargados en plataformas ferroviarias.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78608" cy="3200400"/>
          </a:xfrm>
          <a:prstGeom prst="roundRect">
            <a:avLst>
              <a:gd name="adj" fmla="val 2837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E6F2ED"/>
          </a:solidFill>
          <a:ln w="12700">
            <a:solidFill>
              <a:srgbClr val="0F7B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5877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27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km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210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del corredor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5020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túneles de 7 a 8 km con tramos a cielo abierto. Túnel principal de 44 km.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38144" y="2286000"/>
            <a:ext cx="2578608" cy="3200400"/>
          </a:xfrm>
          <a:prstGeom prst="roundRect">
            <a:avLst>
              <a:gd name="adj" fmla="val 2837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6744" y="2514600"/>
            <a:ext cx="457200" cy="457200"/>
          </a:xfrm>
          <a:prstGeom prst="ellipse">
            <a:avLst/>
          </a:prstGeom>
          <a:solidFill>
            <a:srgbClr val="E6F2ED"/>
          </a:solidFill>
          <a:ln w="12700">
            <a:solidFill>
              <a:srgbClr val="0F7B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66744" y="25877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127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min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666744" y="36210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ciclo integrado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666744" y="395020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Carga, traslado y descarga. Frente a las 4 horas del paso actual.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6208" y="2286000"/>
            <a:ext cx="2578608" cy="3200400"/>
          </a:xfrm>
          <a:prstGeom prst="roundRect">
            <a:avLst>
              <a:gd name="adj" fmla="val 2837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4808" y="2514600"/>
            <a:ext cx="457200" cy="457200"/>
          </a:xfrm>
          <a:prstGeom prst="ellipse">
            <a:avLst/>
          </a:prstGeom>
          <a:solidFill>
            <a:srgbClr val="E6F2ED"/>
          </a:solidFill>
          <a:ln w="12700">
            <a:solidFill>
              <a:srgbClr val="0F7B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4808" y="25877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64808" y="3127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Ro-Ro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36210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Autopista rodante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395020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camión no se desacopla: sube a la plataforma con su carga.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34272" y="2286000"/>
            <a:ext cx="2578608" cy="3200400"/>
          </a:xfrm>
          <a:prstGeom prst="roundRect">
            <a:avLst>
              <a:gd name="adj" fmla="val 2837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62872" y="2514600"/>
            <a:ext cx="457200" cy="457200"/>
          </a:xfrm>
          <a:prstGeom prst="ellipse">
            <a:avLst/>
          </a:prstGeom>
          <a:solidFill>
            <a:srgbClr val="E6F2ED"/>
          </a:solidFill>
          <a:ln w="12700">
            <a:solidFill>
              <a:srgbClr val="0F7B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62872" y="25877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62872" y="3127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Eléctrica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262872" y="36210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262872" y="395020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combustión dentro del túnel. Reduce emisiones del cruce.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Ponencia, diapositivas 19, 20 y 23. Inversión declarada por el proponente: US$ 2.800 millones.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cifra lleva marca de origen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de un trabajo como este es repetir la fuente sin filtro. Para evitarlo, cada dato del análisis, del sitio web y de los informes lleva una marca que dice de dónde salió.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496312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193F7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6946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4597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fuente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73405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tomada de la ponencia, citada con número de diapositiva.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410712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0F7B5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48386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374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propio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64845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nuestro, reproducible con los archivos publicados.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325112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CF901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39826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288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Hipótesis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456285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adoptado por el semillero. No está medido.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239512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5B6B8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31266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5202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 abierto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547725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consulta en fuente oficial (INVÍAS, ANSV, DANE).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35240" y="2331720"/>
            <a:ext cx="3913632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09560" y="2560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esto permite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29718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lo que afirma el proponente de lo que verificamos nosotros.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las inconsistencias de la fuente en vez de escoger un valor en silencio.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cualquiera pueda rehacer nuestros cálculos con los archivos publicados.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regla aplica a los tres productos: informes, sitio web y anexos de cálculo.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3F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7F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Analizar la propuesta de túnel de base ferroviario Ferropista para el cruce de la Cordillera Central en el tramo Ibagué – Armenia, mediante la caracterización topográfica, geotécnica y logística preliminar del corredor y la verificación de sus indicadores de impacto económico, social, ambiental y de seguridad vial, durante el semestre académico 2026B.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4206240"/>
            <a:ext cx="10543032" cy="1371600"/>
          </a:xfrm>
          <a:prstGeom prst="roundRect">
            <a:avLst>
              <a:gd name="adj" fmla="val 5333"/>
            </a:avLst>
          </a:prstGeom>
          <a:solidFill>
            <a:srgbClr val="143163"/>
          </a:solidFill>
          <a:ln w="12700">
            <a:solidFill>
              <a:srgbClr val="2A4F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44074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verbo es analizar, no evaluar la viabilidad.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47548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8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 de viabilidad de una obra de US$ 2.800 millones es un estudio de prefactibilidad que ya hizo el proponente y que excede el alcance de un semillero en un semestre. Lo que aportamos es caracterización propia y verificación independiente de sus órdenes de magnitud.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PLAN DE ACCIÓN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objetivos específicos en tres bloques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977640" cy="4297680"/>
          </a:xfrm>
          <a:prstGeom prst="roundRect">
            <a:avLst>
              <a:gd name="adj" fmla="val 1839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28800"/>
            <a:ext cx="310896" cy="310896"/>
          </a:xfrm>
          <a:prstGeom prst="ellipse">
            <a:avLst/>
          </a:prstGeom>
          <a:solidFill>
            <a:srgbClr val="193F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98448" y="18105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1 · Caracterización de partida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95728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sep – 3 oct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 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063240"/>
            <a:ext cx="3465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topográfico y trazado preliminar del túnel a partir de un modelo de elevación digital.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794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069080"/>
            <a:ext cx="3465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geoespacial con el trazado y un instrumento de consulta ciudadana.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800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 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5074920"/>
            <a:ext cx="3465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seguridad vial y tránsito del paso actual con series de INVÍAS y ANSV.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73752" y="1600200"/>
            <a:ext cx="3977640" cy="4297680"/>
          </a:xfrm>
          <a:prstGeom prst="roundRect">
            <a:avLst>
              <a:gd name="adj" fmla="val 1839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9784" y="1828800"/>
            <a:ext cx="310896" cy="310896"/>
          </a:xfrm>
          <a:prstGeom prst="ellipse">
            <a:avLst/>
          </a:prstGeom>
          <a:solidFill>
            <a:srgbClr val="0F7B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32120" y="18105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2 · Análisis y modelación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129784" y="2395728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oct – 7 nov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129784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 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9784" y="3063240"/>
            <a:ext cx="3465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portante preliminar del terreno de fundación en los portales (NSR-10, Título H).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129784" y="3794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 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29784" y="4069080"/>
            <a:ext cx="3465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excavación: tuneladora frente a método convencional.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129784" y="4800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 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29784" y="5074920"/>
            <a:ext cx="3465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tiempos y costos operativos del cambio modal.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07424" y="1600200"/>
            <a:ext cx="2441448" cy="4297680"/>
          </a:xfrm>
          <a:prstGeom prst="roundRect">
            <a:avLst>
              <a:gd name="adj" fmla="val 2996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63456" y="1828800"/>
            <a:ext cx="310896" cy="310896"/>
          </a:xfrm>
          <a:prstGeom prst="ellipse">
            <a:avLst/>
          </a:prstGeom>
          <a:solidFill>
            <a:srgbClr val="CF901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65792" y="1810512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3 · Integración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63456" y="2395728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– 27 nov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363456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9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 7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363456" y="30632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 impacto ambiental y social, e informe final integrado del semestre.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363456" y="4114800"/>
            <a:ext cx="1929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los resultados de los seis objetivos anteriores en el balance de impacto y en el informe final del semestre.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actividades y 18 productos verificables. Los bloques 1 y 2 corren en paralelo: son objetivos de personas distintas.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· OBJETIVO ESPECÍFICO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trazado ya no es una cifra de la ponencia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procesó el modelo de elevación digital Copernicus DEM GLO-30 sobre el corredor y se calculó un alineamiento entre portales. Estos cuatro resultados son cálculo propio y reproducible.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5915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52,21 km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950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del alineamiento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6382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 portales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38144" y="219456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66744" y="235915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0,975 %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666744" y="288950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rasante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66744" y="316382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 adoptado &lt; 1,5 %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36208" y="219456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35915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2.008 m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máxima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64808" y="316382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el PK 41,3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34272" y="219456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62872" y="235915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818 m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262872" y="288950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media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316382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 1.500 puntos</a:t>
            </a:r>
            <a:endParaRPr lang="en-US" sz="900" dirty="0"/>
          </a:p>
        </p:txBody>
      </p:sp>
      <p:pic>
        <p:nvPicPr>
          <p:cNvPr id="21" name="Image 0" descr="img/per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794760"/>
            <a:ext cx="6949440" cy="23317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863840" y="3794760"/>
            <a:ext cx="3685032" cy="2331720"/>
          </a:xfrm>
          <a:prstGeom prst="roundRect">
            <a:avLst>
              <a:gd name="adj" fmla="val 3137"/>
            </a:avLst>
          </a:prstGeom>
          <a:solidFill>
            <a:srgbClr val="E6F2ED"/>
          </a:solidFill>
          <a:ln w="12700">
            <a:solidFill>
              <a:srgbClr val="9DD5B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19872" y="3977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4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Contraste independiente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119872" y="4315968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cota máxima del terreno sobre el alineamiento da 3.366 msnm en nuestro modelo. La ponencia declara 3.300 msnm para el paso. Dos caminos distintos llegan al mismo orden de magnitud: es una convergencia, no una copia.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Copernicus DEM GLO-30 (ESA/Airbus), ~30 m, EPSG:4326. Portales: 955 y 1.464 msnm. Error medio del DEM contra cotas conocidas: 35 m.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· OBJETIVO ESPECÍFICO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cobertura condiciona el método de excavación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 montaña queda encima del túnel en cada tramo es el insumo que necesita el objetivo específico 4 para contrastar tuneladora contra voladura.</a:t>
            </a:r>
            <a:endParaRPr lang="en-US" sz="1400" dirty="0"/>
          </a:p>
        </p:txBody>
      </p:sp>
      <p:pic>
        <p:nvPicPr>
          <p:cNvPr id="5" name="Image 0" descr="img/cober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6858000" cy="3502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2103120"/>
            <a:ext cx="3776472" cy="3502152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23317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lee del gráfico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724912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51,1 % del trazado va con más de 700 m de roca encima.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rangos son una clasificación propia del semillero, no una norma técnica.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ubicación de los portales responde a un criterio geométrico, no geotécnico.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cruzarla con susceptibilidad a movimientos en masa: eso es el objetivo específico 3.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Producto: cartera de rasantes en Excel con 244 fórmulas vivas, más los shapefiles y el GeoJSON del trazado.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METODOLÓGICO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fuente tiene inconsistencias, y las documentamos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DF4E3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de viaje ahorradas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diapositiva 28 reporta 5,0 millones de horas al año. La 29, mediante el gráfico de tiempos de viaje, arroja 5,3. Diferencia del 6 %. Publicamos el rango en lugar de escoger un valor en silencio.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DF4E3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874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Recaudo fiscal frente a ahorro del usuario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$COP 60,2 billones a 50 años son recaudo fiscal para todo Colombia, no ahorros de los usuarios del corredor. Confundir ambos conceptos invalida cualquier análisis costo-beneficio.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40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la fuente declara y nosotros verificaremos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E8EFF9"/>
          </a:solidFill>
          <a:ln w="12700">
            <a:solidFill>
              <a:srgbClr val="B3C7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4434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−70,8 %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846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cruce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53218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dia. 23 y 29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38144" y="4251960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E8EFF9"/>
          </a:solidFill>
          <a:ln w="12700">
            <a:solidFill>
              <a:srgbClr val="B3C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39312" y="4434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−75,7 %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639312" y="4846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viaje al año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39312" y="53218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dia. 29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36208" y="4251960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E8EFF9"/>
          </a:solidFill>
          <a:ln w="12700">
            <a:solidFill>
              <a:srgbClr val="B3C7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7376" y="4434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90 %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4846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GEI del cruce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53218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dia. 25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034272" y="4251960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E8EFF9"/>
          </a:solidFill>
          <a:ln w="12700">
            <a:solidFill>
              <a:srgbClr val="B3C7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35440" y="4434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3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$COP 138,5 B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4846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externos evitados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53218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dia. 26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 dos porcentajes de reducción son cálculo propio [CP] sobre cifras de la fuente [F]. Los otros dos son cifras declaradas.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ESPECÍFICO 2 · EN CURSO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sitio es el cuaderno de trabajo público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el trazado calculado, los indicadores con su marca de origen y el plan de acción con su estado. Alojará el instrumento de consulta ciudadana sobre percepción de riesgo vial.</a:t>
            </a:r>
            <a:endParaRPr lang="en-US" sz="1400" dirty="0"/>
          </a:p>
        </p:txBody>
      </p:sp>
      <p:pic>
        <p:nvPicPr>
          <p:cNvPr id="5" name="Image 0" descr="img/web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5394960" cy="3374136"/>
          </a:xfrm>
          <a:prstGeom prst="rect">
            <a:avLst/>
          </a:prstGeom>
        </p:spPr>
      </p:pic>
      <p:pic>
        <p:nvPicPr>
          <p:cNvPr id="6" name="Image 1" descr="img/web_perf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103120"/>
            <a:ext cx="5285232" cy="33009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55321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Portada y ficha del corredor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553212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Perfil del túnel calculado en el objetivo 1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ferropista.vercel.app · Next.js sobre Vercel. Todas las cifras se leen de un único archivo de datos con marca y fuente.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ENTREGA Y QUÉ NO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Productos del semestre y límites declarados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productos verificables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Trazado georreferenciado del túnel (GeoJSON y shapefile).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topográfico longitudinal y cartera de rasantes (Excel y PDF).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publicada con visor cartográfico.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aforos clasificada e informe de diagnóstico vial.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de cálculo de capacidad portante (NSR-10, Título H).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de sostenimientos e informe de métodos de excavación.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ahorros operativos e informe económico-logístico.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emisiones GEI e informe final del semestre.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DF4E3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8105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que declaramos de entrada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21284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siniestralidad se publican agregados por municipio, no por punto de referencia de la vía.</a:t>
            </a:r>
            <a:endParaRPr lang="en-US" sz="11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elevación libre tiene resolución de decenas de metros: el trazado es de nivel conceptual, no un diseño geométrico.</a:t>
            </a:r>
            <a:endParaRPr lang="en-US" sz="11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exploración de subsuelo accesible al semillero: todo parámetro geotécnico se declara como hipótesis y se presenta con análisis de sensibilidad.</a:t>
            </a:r>
            <a:endParaRPr lang="en-US" sz="11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consulta ciudadana en línea produce una muestra no probabilística: es indicativa de percepción, no estadística poblacional.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Declarar los límites antes de empezar es lo que separa un trabajo académico serio de una repetición acrítica de la fuente.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3F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7F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VAMOS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plan y lo que sigue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143163"/>
          </a:solidFill>
          <a:ln w="12700">
            <a:solidFill>
              <a:srgbClr val="2A4F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2816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Topografía y trazado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32004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de cinco actividades cerradas. Falta la evidencia de geoprocesos en QGIS.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228600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143163"/>
          </a:solidFill>
          <a:ln w="12700">
            <a:solidFill>
              <a:srgbClr val="2A4F8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16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web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2004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y visor cartográfico en línea. Sigue el instrumento de consulta.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1856" y="228600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143163"/>
          </a:solidFill>
          <a:ln w="12700">
            <a:solidFill>
              <a:srgbClr val="2A4F8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7888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Objetivos 3 a 7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2816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Bloques 2 y 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32004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Programados desde el 5 de octubre. Se alimentan de los resultados del objetivo 1.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pedimos revisar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alcance declarado es el adecuado para un semestre, si el criterio de pendiente admisible es defendible, y si la clasificación de cobertura sirve para el análisis de métodos de excavación.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Semillero de Investigación GMAE · Universidad de Ibagué · Semestre Paz y Región 2026B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Ferropista Cordillera Central - Propuesta de analisis</dc:title>
  <dc:subject>PptxGenJS Presentation</dc:subject>
  <dc:creator>Semillero de Investigacion GMAE - Universidad de Ibague</dc:creator>
  <cp:lastModifiedBy>Semillero de Investigacion GMAE - Universidad de Ibague</cp:lastModifiedBy>
  <cp:revision>1</cp:revision>
  <dcterms:created xsi:type="dcterms:W3CDTF">2026-09-02T14:24:38Z</dcterms:created>
  <dcterms:modified xsi:type="dcterms:W3CDTF">2026-09-02T14:24:38Z</dcterms:modified>
</cp:coreProperties>
</file>